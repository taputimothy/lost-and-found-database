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Lexend SemiBold"/>
      <p:regular r:id="rId23"/>
      <p:bold r:id="rId24"/>
    </p:embeddedFont>
    <p:embeddedFont>
      <p:font typeface="Lexend Light"/>
      <p:regular r:id="rId25"/>
      <p:bold r:id="rId26"/>
    </p:embeddedFont>
    <p:embeddedFont>
      <p:font typeface="Lexend Medium"/>
      <p:regular r:id="rId27"/>
      <p:bold r:id="rId28"/>
    </p:embeddedFont>
    <p:embeddedFont>
      <p:font typeface="DM Sans SemiBold"/>
      <p:regular r:id="rId29"/>
      <p:bold r:id="rId30"/>
      <p:italic r:id="rId31"/>
      <p:boldItalic r:id="rId32"/>
    </p:embeddedFont>
    <p:embeddedFont>
      <p:font typeface="Lexend"/>
      <p:regular r:id="rId33"/>
      <p:bold r:id="rId34"/>
    </p:embeddedFont>
    <p:embeddedFont>
      <p:font typeface="DM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exendSemiBold-bold.fntdata"/><Relationship Id="rId23" Type="http://schemas.openxmlformats.org/officeDocument/2006/relationships/font" Target="fonts/LexendSemiBo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Light-bold.fntdata"/><Relationship Id="rId25" Type="http://schemas.openxmlformats.org/officeDocument/2006/relationships/font" Target="fonts/LexendLight-regular.fntdata"/><Relationship Id="rId28" Type="http://schemas.openxmlformats.org/officeDocument/2006/relationships/font" Target="fonts/LexendMedium-bold.fntdata"/><Relationship Id="rId27" Type="http://schemas.openxmlformats.org/officeDocument/2006/relationships/font" Target="fonts/Lexend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italic.fntdata"/><Relationship Id="rId30" Type="http://schemas.openxmlformats.org/officeDocument/2006/relationships/font" Target="fonts/DM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Lexend-regular.fntdata"/><Relationship Id="rId10" Type="http://schemas.openxmlformats.org/officeDocument/2006/relationships/slide" Target="slides/slide4.xml"/><Relationship Id="rId32" Type="http://schemas.openxmlformats.org/officeDocument/2006/relationships/font" Target="fonts/DM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DMSans-regular.fntdata"/><Relationship Id="rId12" Type="http://schemas.openxmlformats.org/officeDocument/2006/relationships/slide" Target="slides/slide6.xml"/><Relationship Id="rId34" Type="http://schemas.openxmlformats.org/officeDocument/2006/relationships/font" Target="fonts/Lexend-bold.fntdata"/><Relationship Id="rId15" Type="http://schemas.openxmlformats.org/officeDocument/2006/relationships/slide" Target="slides/slide9.xml"/><Relationship Id="rId37" Type="http://schemas.openxmlformats.org/officeDocument/2006/relationships/font" Target="fonts/DMSans-italic.fntdata"/><Relationship Id="rId14" Type="http://schemas.openxmlformats.org/officeDocument/2006/relationships/slide" Target="slides/slide8.xml"/><Relationship Id="rId36" Type="http://schemas.openxmlformats.org/officeDocument/2006/relationships/font" Target="fonts/DM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DM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4dd45339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4dd45339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dd45339e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4dd45339e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Students losing items on campus is a common but serious issue. Without a proper system, it becomes difficult not just to find what was lost, but also to confirm who owns it and where it was misplaced. This leads to a lot of frustration and lost time for everyone involved.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0beb6efab_9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0beb6efab_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A digital database offers a structured way to organize lost item reports. Each entity — like the item itself, where it was found, and the person who reported it — gets its own table, ensuring information is easy to retrieve and update. Compared to using a physical notebook, this approach is much more accurate and prevents common errors like missing or misfiled information.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0beb6efab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0beb6efab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Structured data management isn’t just important here — it’s critical in many fields. Businesses use it to track inventory; libraries use it to manage their book collections. In our context, structured records mean students can trust that if they lose something, it won’t disappear into a black hole. It saves time, reduces confusion, and provides reassurance.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0beb6efab_9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50beb6efab_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Structured data management isn’t just important here — it’s critical in many fields. Businesses use it to track inventory; libraries use it to manage their book collections. In our context, structured records mean students can trust that if they lose something, it won’t disappear into a black hole. It saves time, reduces confusion, and provides reassurance.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0beb6efab_9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0beb6efab_9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Structured data management isn’t just important here — it’s critical in many fields. Businesses use it to track inventory; libraries use it to manage their book collections. In our context, structured records mean students can trust that if they lose something, it won’t disappear into a black hole. It saves time, reduces confusion, and provides reassurance.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0beb6efab_9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0beb6efab_9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Structured data management isn’t just important here — it’s critical in many fields. Businesses use it to track inventory; libraries use it to manage their book collections. In our context, structured records mean students can trust that if they lose something, it won’t disappear into a black hole. It saves time, reduces confusion, and provides reassurance.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4dd45339e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4dd45339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0beb6efab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50beb6efab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0beb6efab_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50beb6efab_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4dd45339e6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4dd45339e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0beb6efab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50beb6efab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50b66077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50b6607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0f34960e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50f34960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0f34960e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0f34960e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5047aeeb2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5047aeeb2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" name="Google Shape;58;p14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59" name="Google Shape;59;p14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64" name="Google Shape;64;p14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68" name="Google Shape;68;p14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69" name="Google Shape;69;p14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1" name="Google Shape;71;p14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72" name="Google Shape;72;p14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75" name="Google Shape;75;p14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4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81" name="Google Shape;81;p14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" name="Google Shape;127;p2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" name="Google Shape;128;p2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" name="Google Shape;129;p2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" name="Google Shape;135;p2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2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1" name="Google Shape;151;p2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2" name="Google Shape;152;p2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0" name="Google Shape;160;p3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1" name="Google Shape;161;p3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2" name="Google Shape;162;p3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" name="Google Shape;163;p3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" name="Google Shape;170;p3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3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3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" name="Google Shape;179;p3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2" name="Google Shape;182;p3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3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3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3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3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3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3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3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36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8" name="Google Shape;208;p3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9" name="Google Shape;209;p36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11" name="Google Shape;211;p36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6" name="Google Shape;216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7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2" name="Google Shape;222;p37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3" name="Google Shape;223;p37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3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8" name="Google Shape;228;p3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9" name="Google Shape;229;p38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8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3" name="Google Shape;233;p38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5" name="Google Shape;235;p38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6" name="Google Shape;236;p38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7" name="Google Shape;237;p38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8" name="Google Shape;238;p38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3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3" name="Google Shape;243;p3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4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4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40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4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7" name="Google Shape;257;p41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4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4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4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3" name="Google Shape;263;p42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" name="Google Shape;264;p42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67" name="Google Shape;267;p4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3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43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1" name="Google Shape;271;p43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73" name="Google Shape;273;p43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74" name="Google Shape;274;p43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75" name="Google Shape;275;p43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76" name="Google Shape;276;p43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" name="Google Shape;278;p4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1" name="Google Shape;281;p4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2" name="Google Shape;282;p44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4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84" name="Google Shape;284;p44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85" name="Google Shape;285;p44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86" name="Google Shape;286;p44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87" name="Google Shape;287;p44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88" name="Google Shape;288;p44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90" name="Google Shape;290;p44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4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4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5" name="Google Shape;295;p4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6" name="Google Shape;296;p45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97" name="Google Shape;297;p45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98" name="Google Shape;298;p45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99" name="Google Shape;299;p45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0" name="Google Shape;300;p45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1" name="Google Shape;301;p45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4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06" name="Google Shape;306;p4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07" name="Google Shape;307;p4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8" name="Google Shape;308;p4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309" name="Google Shape;309;p46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10" name="Google Shape;310;p4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14" name="Google Shape;314;p4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15" name="Google Shape;315;p47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" name="Google Shape;316;p4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317" name="Google Shape;317;p4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47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48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48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48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324" name="Google Shape;324;p48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325" name="Google Shape;325;p48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326" name="Google Shape;326;p4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4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4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29" name="Google Shape;329;p48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332" name="Google Shape;332;p49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333" name="Google Shape;333;p49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334" name="Google Shape;334;p4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37" name="Google Shape;337;p4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244425" y="945275"/>
            <a:ext cx="6070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Lost &amp; Found Database</a:t>
            </a:r>
            <a:endParaRPr sz="5800"/>
          </a:p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244425" y="2982325"/>
            <a:ext cx="4752900" cy="12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Group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Jiaer Ji, Kundana Golla, Alexander Eischeid, Carter Adrias, Timothy Baldwin, Tina Wondimu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0"/>
          <p:cNvSpPr txBox="1"/>
          <p:nvPr>
            <p:ph idx="2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345" name="Google Shape;345;p50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  <p:sp>
        <p:nvSpPr>
          <p:cNvPr id="346" name="Google Shape;346;p5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51"/>
          <p:cNvSpPr txBox="1"/>
          <p:nvPr>
            <p:ph type="title"/>
          </p:nvPr>
        </p:nvSpPr>
        <p:spPr>
          <a:xfrm>
            <a:off x="28740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Problem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1"/>
          <p:cNvSpPr txBox="1"/>
          <p:nvPr>
            <p:ph idx="3" type="body"/>
          </p:nvPr>
        </p:nvSpPr>
        <p:spPr>
          <a:xfrm>
            <a:off x="301650" y="1702200"/>
            <a:ext cx="85407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Students frequently lose personal items on campus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Challenges with tracking and retrieving lost items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Difficulty identifying owners and item locations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54" name="Google Shape;354;p51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355" name="Google Shape;355;p51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2"/>
          <p:cNvSpPr txBox="1"/>
          <p:nvPr>
            <p:ph type="title"/>
          </p:nvPr>
        </p:nvSpPr>
        <p:spPr>
          <a:xfrm>
            <a:off x="28740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Solution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2"/>
          <p:cNvSpPr txBox="1"/>
          <p:nvPr>
            <p:ph idx="3" type="body"/>
          </p:nvPr>
        </p:nvSpPr>
        <p:spPr>
          <a:xfrm>
            <a:off x="301650" y="1702200"/>
            <a:ext cx="85407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Organized, structured storage of lost item information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Separate tables for items, locations, dates, and contacts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Includes details like item type, location, and photos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More reliable than traditional notebook systems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364" name="Google Shape;364;p5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53"/>
          <p:cNvSpPr txBox="1"/>
          <p:nvPr>
            <p:ph type="title"/>
          </p:nvPr>
        </p:nvSpPr>
        <p:spPr>
          <a:xfrm>
            <a:off x="287400" y="186950"/>
            <a:ext cx="86292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Importance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Structured Data Management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371" name="Google Shape;371;p53"/>
          <p:cNvSpPr txBox="1"/>
          <p:nvPr>
            <p:ph idx="3" type="body"/>
          </p:nvPr>
        </p:nvSpPr>
        <p:spPr>
          <a:xfrm>
            <a:off x="287400" y="1702200"/>
            <a:ext cx="88566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Used widely across industries (e.g., businesses, libraries)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Prevents loss, confusion, and mismanagement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Medium"/>
              <a:buChar char="●"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Enhances security and peace of mind for students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2" name="Google Shape;372;p53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373" name="Google Shape;373;p5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54"/>
          <p:cNvSpPr txBox="1"/>
          <p:nvPr>
            <p:ph type="title"/>
          </p:nvPr>
        </p:nvSpPr>
        <p:spPr>
          <a:xfrm>
            <a:off x="287400" y="186950"/>
            <a:ext cx="86292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380" name="Google Shape;380;p54"/>
          <p:cNvSpPr txBox="1"/>
          <p:nvPr>
            <p:ph idx="3" type="body"/>
          </p:nvPr>
        </p:nvSpPr>
        <p:spPr>
          <a:xfrm>
            <a:off x="287400" y="1897200"/>
            <a:ext cx="8856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As a student, I want to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quickly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inquire about an item I've lost, including descriptions, images, and last-known locations, so I can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improve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my chances of recovering it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promptly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382" name="Google Shape;382;p5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55"/>
          <p:cNvSpPr txBox="1"/>
          <p:nvPr>
            <p:ph type="title"/>
          </p:nvPr>
        </p:nvSpPr>
        <p:spPr>
          <a:xfrm>
            <a:off x="287400" y="186950"/>
            <a:ext cx="86292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exend Light"/>
                <a:ea typeface="Lexend Light"/>
                <a:cs typeface="Lexend Light"/>
                <a:sym typeface="Lexend Light"/>
              </a:rPr>
              <a:t>(cont.)</a:t>
            </a:r>
            <a:endParaRPr sz="3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9" name="Google Shape;389;p55"/>
          <p:cNvSpPr txBox="1"/>
          <p:nvPr>
            <p:ph idx="3" type="body"/>
          </p:nvPr>
        </p:nvSpPr>
        <p:spPr>
          <a:xfrm>
            <a:off x="287400" y="1917600"/>
            <a:ext cx="88566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As a student or staff member who found an item, I want to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easily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report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details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and the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location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where the item was discovered, so the rightful owner can locate and claim their belongings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swiftly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90" name="Google Shape;390;p55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391" name="Google Shape;391;p5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56"/>
          <p:cNvSpPr txBox="1"/>
          <p:nvPr>
            <p:ph type="title"/>
          </p:nvPr>
        </p:nvSpPr>
        <p:spPr>
          <a:xfrm>
            <a:off x="287400" y="186950"/>
            <a:ext cx="86292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exend Light"/>
                <a:ea typeface="Lexend Light"/>
                <a:cs typeface="Lexend Light"/>
                <a:sym typeface="Lexend Light"/>
              </a:rPr>
              <a:t>(cont.)</a:t>
            </a:r>
            <a:endParaRPr sz="3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8" name="Google Shape;398;p56"/>
          <p:cNvSpPr txBox="1"/>
          <p:nvPr>
            <p:ph idx="3" type="body"/>
          </p:nvPr>
        </p:nvSpPr>
        <p:spPr>
          <a:xfrm>
            <a:off x="287400" y="1702200"/>
            <a:ext cx="88566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As an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administrator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managing the lost and found, I want to generate regular reports of currently unclaimed items and their locations, so I can organize storage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efficiently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, facilitate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easy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 retrieval, and periodically communicate updates to the campus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community</a:t>
            </a: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99" name="Google Shape;399;p56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00" name="Google Shape;400;p5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7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ERD Model</a:t>
            </a:r>
            <a:endParaRPr sz="3000"/>
          </a:p>
        </p:txBody>
      </p:sp>
      <p:sp>
        <p:nvSpPr>
          <p:cNvPr id="407" name="Google Shape;407;p57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08" name="Google Shape;408;p5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  <p:pic>
        <p:nvPicPr>
          <p:cNvPr id="409" name="Google Shape;409;p57" title="image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863" y="881525"/>
            <a:ext cx="6956273" cy="36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58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Logical</a:t>
            </a:r>
            <a:r>
              <a:rPr lang="en" sz="3000"/>
              <a:t> Model</a:t>
            </a:r>
            <a:endParaRPr sz="3000"/>
          </a:p>
        </p:txBody>
      </p:sp>
      <p:sp>
        <p:nvSpPr>
          <p:cNvPr id="416" name="Google Shape;416;p58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17" name="Google Shape;417;p5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  <p:pic>
        <p:nvPicPr>
          <p:cNvPr id="418" name="Google Shape;4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425" y="700225"/>
            <a:ext cx="539115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9"/>
          <p:cNvSpPr txBox="1"/>
          <p:nvPr>
            <p:ph type="title"/>
          </p:nvPr>
        </p:nvSpPr>
        <p:spPr>
          <a:xfrm>
            <a:off x="28740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9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26" name="Google Shape;426;p5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  <p:sp>
        <p:nvSpPr>
          <p:cNvPr id="427" name="Google Shape;427;p59"/>
          <p:cNvSpPr txBox="1"/>
          <p:nvPr>
            <p:ph idx="3" type="body"/>
          </p:nvPr>
        </p:nvSpPr>
        <p:spPr>
          <a:xfrm>
            <a:off x="244425" y="1506400"/>
            <a:ext cx="8831700" cy="31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Item</a:t>
            </a:r>
            <a:r>
              <a:rPr lang="en" sz="1600"/>
              <a:t>: item(item_id (PK), item_name, description, photo, location_id (FK), type_id (FK), color_id (FK), date_id (FK), PID (FK))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Location</a:t>
            </a:r>
            <a:r>
              <a:rPr lang="en" sz="1600"/>
              <a:t>: location(location_id (PK), location_name, location_phone, location_website)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Type:</a:t>
            </a:r>
            <a:r>
              <a:rPr lang="en" sz="1600"/>
              <a:t> type(type_id (PK), type_name)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Color: </a:t>
            </a:r>
            <a:r>
              <a:rPr lang="en" sz="1600"/>
              <a:t>color(color_id (PK), color_name)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Duration: </a:t>
            </a:r>
            <a:r>
              <a:rPr lang="en" sz="1600"/>
              <a:t>duration(date_id (PK), date_lost, date_cataloged, date_claimed)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Contact_info: </a:t>
            </a:r>
            <a:r>
              <a:rPr lang="en" sz="1600"/>
              <a:t>contact_info(PID (PK), first_name, last_name, phone_number, unc_email_address)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6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0"/>
          <p:cNvSpPr txBox="1"/>
          <p:nvPr>
            <p:ph idx="3" type="body"/>
          </p:nvPr>
        </p:nvSpPr>
        <p:spPr>
          <a:xfrm>
            <a:off x="244425" y="1506400"/>
            <a:ext cx="6810600" cy="31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Replaced unorganized logbooks and spreadsheets commonly used in lost and found locations with one central database.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Normalized up to 3NF/BCNF to 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eliminate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data duplicates and anomalies when updating the data.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Referential 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integrity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made sure every item 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reported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is linked to a valid location, type, color, and owner contact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36" name="Google Shape;436;p6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61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1"/>
          <p:cNvSpPr txBox="1"/>
          <p:nvPr>
            <p:ph idx="3" type="body"/>
          </p:nvPr>
        </p:nvSpPr>
        <p:spPr>
          <a:xfrm>
            <a:off x="244425" y="1506400"/>
            <a:ext cx="6810600" cy="31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Design is scalable; any new locations or items can be added without having to redesign our database.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Database can be used for future interfaces such as a web browser.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Auto-increment IDs and indexed keys enables quick and easy lookups for anyone using the database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61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45" name="Google Shape;445;p61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INLS 523 Final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  <p:sp>
        <p:nvSpPr>
          <p:cNvPr id="452" name="Google Shape;452;p62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Reports</a:t>
            </a:r>
            <a:endParaRPr/>
          </a:p>
        </p:txBody>
      </p:sp>
      <p:sp>
        <p:nvSpPr>
          <p:cNvPr id="453" name="Google Shape;453;p62"/>
          <p:cNvSpPr txBox="1"/>
          <p:nvPr>
            <p:ph idx="3" type="body"/>
          </p:nvPr>
        </p:nvSpPr>
        <p:spPr>
          <a:xfrm>
            <a:off x="403588" y="170220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View 1: item_type_counts_by_location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Lexend"/>
              <a:buChar char="-"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Shows the most common item types at each location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54" name="Google Shape;454;p62"/>
          <p:cNvSpPr txBox="1"/>
          <p:nvPr>
            <p:ph idx="3" type="body"/>
          </p:nvPr>
        </p:nvSpPr>
        <p:spPr>
          <a:xfrm>
            <a:off x="4572000" y="170220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View 2: avg_claim_time_by_type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Lexend"/>
              <a:buChar char="-"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Calculates average days from </a:t>
            </a:r>
            <a:r>
              <a:rPr lang="en" sz="1300">
                <a:latin typeface="Lexend"/>
                <a:ea typeface="Lexend"/>
                <a:cs typeface="Lexend"/>
                <a:sym typeface="Lexend"/>
              </a:rPr>
              <a:t>cataloging</a:t>
            </a:r>
            <a:r>
              <a:rPr lang="en" sz="1300">
                <a:latin typeface="Lexend"/>
                <a:ea typeface="Lexend"/>
                <a:cs typeface="Lexend"/>
                <a:sym typeface="Lexend"/>
              </a:rPr>
              <a:t> to claim by type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62" title="Screenshot 2025-04-28 at 5.11.02 PM.png"/>
          <p:cNvPicPr preferRelativeResize="0"/>
          <p:nvPr/>
        </p:nvPicPr>
        <p:blipFill rotWithShape="1">
          <a:blip r:embed="rId3">
            <a:alphaModFix/>
          </a:blip>
          <a:srcRect b="33088" l="0" r="0" t="0"/>
          <a:stretch/>
        </p:blipFill>
        <p:spPr>
          <a:xfrm>
            <a:off x="219875" y="2758964"/>
            <a:ext cx="3905650" cy="128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2" title="Screenshot 2025-04-28 at 5.13.2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225" y="2758975"/>
            <a:ext cx="3047466" cy="12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63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3"/>
          <p:cNvSpPr txBox="1"/>
          <p:nvPr>
            <p:ph idx="3" type="body"/>
          </p:nvPr>
        </p:nvSpPr>
        <p:spPr>
          <a:xfrm>
            <a:off x="155625" y="1013850"/>
            <a:ext cx="8899500" cy="31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Challenges: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○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Each item 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having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so much information associated with it made the repetitive task of accurately inputting data more difficult.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○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Coming up with queries, and creating the necessary code for the queries, was challenging at times.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○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Considering the simple scope of our project, we recognize that a real-life implementation of this database would require photo storage, strong privacy protection, and an intuitive UI.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63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65" name="Google Shape;465;p6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64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4"/>
          <p:cNvSpPr txBox="1"/>
          <p:nvPr>
            <p:ph idx="3" type="body"/>
          </p:nvPr>
        </p:nvSpPr>
        <p:spPr>
          <a:xfrm>
            <a:off x="244425" y="1610925"/>
            <a:ext cx="8899500" cy="31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●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Takeaways: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○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We have a greater understanding of the </a:t>
            </a:r>
            <a:r>
              <a:rPr b="1" lang="en" sz="1700">
                <a:latin typeface="Lexend"/>
                <a:ea typeface="Lexend"/>
                <a:cs typeface="Lexend"/>
                <a:sym typeface="Lexend"/>
              </a:rPr>
              <a:t>importance of user epics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and stories in putting ourselves in a user’s shoes and considering their </a:t>
            </a:r>
            <a:r>
              <a:rPr b="1" lang="en" sz="1700">
                <a:latin typeface="Lexend"/>
                <a:ea typeface="Lexend"/>
                <a:cs typeface="Lexend"/>
                <a:sym typeface="Lexend"/>
              </a:rPr>
              <a:t>needs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for a database.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Lexend"/>
              <a:buChar char="○"/>
            </a:pPr>
            <a:r>
              <a:rPr lang="en" sz="1700">
                <a:latin typeface="Lexend"/>
                <a:ea typeface="Lexend"/>
                <a:cs typeface="Lexend"/>
                <a:sym typeface="Lexend"/>
              </a:rPr>
              <a:t>If we were to approach this project </a:t>
            </a:r>
            <a:r>
              <a:rPr b="1" lang="en" sz="1700">
                <a:latin typeface="Lexend"/>
                <a:ea typeface="Lexend"/>
                <a:cs typeface="Lexend"/>
                <a:sym typeface="Lexend"/>
              </a:rPr>
              <a:t>differently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, we would probably spend more time brainstorming each </a:t>
            </a:r>
            <a:r>
              <a:rPr b="1" lang="en" sz="1700">
                <a:latin typeface="Lexend"/>
                <a:ea typeface="Lexend"/>
                <a:cs typeface="Lexend"/>
                <a:sym typeface="Lexend"/>
              </a:rPr>
              <a:t>entity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 and its </a:t>
            </a:r>
            <a:r>
              <a:rPr b="1" lang="en" sz="1700">
                <a:latin typeface="Lexend"/>
                <a:ea typeface="Lexend"/>
                <a:cs typeface="Lexend"/>
                <a:sym typeface="Lexend"/>
              </a:rPr>
              <a:t>attributes</a:t>
            </a:r>
            <a:r>
              <a:rPr lang="en" sz="1700">
                <a:latin typeface="Lexend"/>
                <a:ea typeface="Lexend"/>
                <a:cs typeface="Lexend"/>
                <a:sym typeface="Lexend"/>
              </a:rPr>
              <a:t>.  This would allow for an even more efficient and effective database.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64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74" name="Google Shape;474;p6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65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INLS 523 Final Project</a:t>
            </a:r>
            <a:endParaRPr/>
          </a:p>
        </p:txBody>
      </p:sp>
      <p:sp>
        <p:nvSpPr>
          <p:cNvPr id="481" name="Google Shape;481;p6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April 28 2025</a:t>
            </a:r>
            <a:endParaRPr/>
          </a:p>
        </p:txBody>
      </p:sp>
      <p:sp>
        <p:nvSpPr>
          <p:cNvPr id="482" name="Google Shape;482;p65"/>
          <p:cNvSpPr txBox="1"/>
          <p:nvPr>
            <p:ph type="title"/>
          </p:nvPr>
        </p:nvSpPr>
        <p:spPr>
          <a:xfrm>
            <a:off x="708600" y="1371600"/>
            <a:ext cx="6492300" cy="17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Thank you!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